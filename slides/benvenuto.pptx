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c59b51e-ef58-2581-e403-23c4362b9efb}">
          <p14:sldIdLst>
            <p14:sldId id="256"/>
          </p14:sldIdLst>
        </p14:section>
        <p14:section name="Il percorso" id="{a6c5af79-488f-99c2-1b6e-7c06918f485d}">
          <p14:sldIdLst>
            <p14:sldId id="257"/>
            <p14:sldId id="258"/>
            <p14:sldId id="259"/>
          </p14:sldIdLst>
        </p14:section>
        <p14:section name="Calendario" id="{025b591a-3174-e866-a026-b7f11562ee9f}">
          <p14:sldIdLst>
            <p14:sldId id="260"/>
            <p14:sldId id="261"/>
            <p14:sldId id="262"/>
          </p14:sldIdLst>
        </p14:section>
        <p14:section name="Lavoro in gruppo" id="{27471359-7c7f-d364-b53a-45eef83af207}">
          <p14:sldIdLst>
            <p14:sldId id="263"/>
            <p14:sldId id="264"/>
            <p14:sldId id="265"/>
            <p14:sldId id="266"/>
            <p14:sldId id="267"/>
          </p14:sldIdLst>
        </p14:section>
        <p14:section name="La piattaforma" id="{098feb9b-4104-69b7-ffcd-830044d55bd9}">
          <p14:sldIdLst>
            <p14:sldId id="268"/>
            <p14:sldId id="269"/>
            <p14:sldId id="270"/>
          </p14:sldIdLst>
        </p14:section>
        <p14:section name="Il valore del percorso" id="{78611efc-e32a-b221-6f43-b09ab4217b6e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Benvenuto ai partecipanti: presentiamo il percorso, il calendario e il modo di lavorare insieme.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pic>
        <p:nvPicPr>
          <p:cNvPr id="3" name="Image 0" descr="Logo Food 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6336792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25296" y="63367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ChallengEat 8 · Benvenuto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ERTIN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2011680"/>
            <a:ext cx="59436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3816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b="1" spc="4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3816" y="2468880"/>
            <a:ext cx="694944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4" name="Text 0"/>
          <p:cNvSpPr/>
          <p:nvPr/>
        </p:nvSpPr>
        <p:spPr>
          <a:xfrm>
            <a:off x="813816" y="63367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ChallengEat 8 · Benvenuto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2880360"/>
            <a:ext cx="10564063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Food 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640080"/>
            <a:ext cx="685800" cy="685800"/>
          </a:xfrm>
          <a:prstGeom prst="rect">
            <a:avLst/>
          </a:prstGeom>
        </p:spPr>
      </p:pic>
      <p:sp>
        <p:nvSpPr>
          <p:cNvPr id="3" name="Sopratitolo"/>
          <p:cNvSpPr txBox="1"/>
          <p:nvPr/>
        </p:nvSpPr>
        <p:spPr>
          <a:xfrm>
            <a:off x="813816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CHALLENGEAT 8 · EDIZIONE 2026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3816" y="201168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Benvenuti in ChallengEat 8</a:t>
            </a:r>
            <a:endParaRPr lang="en-US" sz="5400" dirty="0"/>
          </a:p>
        </p:txBody>
      </p:sp>
      <p:sp>
        <p:nvSpPr>
          <p:cNvPr id="5" name="Sottotitolo"/>
          <p:cNvSpPr txBox="1"/>
          <p:nvPr/>
        </p:nvSpPr>
        <p:spPr>
          <a:xfrm>
            <a:off x="813816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Il percorso, il calendario e il modo di lavorare insieme</a:t>
            </a:r>
            <a:endParaRPr lang="en-US" sz="2400" dirty="0"/>
          </a:p>
        </p:txBody>
      </p:sp>
      <p:sp>
        <p:nvSpPr>
          <p:cNvPr id="6" name="Etichetta date"/>
          <p:cNvSpPr/>
          <p:nvPr/>
        </p:nvSpPr>
        <p:spPr>
          <a:xfrm>
            <a:off x="813816" y="5212080"/>
            <a:ext cx="338328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sto date"/>
          <p:cNvSpPr txBox="1"/>
          <p:nvPr/>
        </p:nvSpPr>
        <p:spPr>
          <a:xfrm>
            <a:off x="813816" y="5212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 ottobre · 16 novembre 2026</a:t>
            </a:r>
            <a:endParaRPr lang="en-US" sz="1400" dirty="0"/>
          </a:p>
        </p:txBody>
      </p:sp>
      <p:sp>
        <p:nvSpPr>
          <p:cNvPr id="8" name="Etichetta durata"/>
          <p:cNvSpPr/>
          <p:nvPr/>
        </p:nvSpPr>
        <p:spPr>
          <a:xfrm>
            <a:off x="4379976" y="5212080"/>
            <a:ext cx="17373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sto durata"/>
          <p:cNvSpPr txBox="1"/>
          <p:nvPr/>
        </p:nvSpPr>
        <p:spPr>
          <a:xfrm>
            <a:off x="4379976" y="5212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5 settimane</a:t>
            </a:r>
            <a:endParaRPr lang="en-US" sz="1400" dirty="0"/>
          </a:p>
        </p:txBody>
      </p:sp>
      <p:pic>
        <p:nvPicPr>
          <p:cNvPr id="10" name="Illustrazione" descr="Tre persone collegate tra loro, un gruppo di lavo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097280"/>
            <a:ext cx="4480560" cy="4480560"/>
          </a:xfrm>
          <a:prstGeom prst="rect">
            <a:avLst/>
          </a:prstGeom>
        </p:spPr>
      </p:pic>
      <p:sp>
        <p:nvSpPr>
          <p:cNvPr id="11" name="A cura di"/>
          <p:cNvSpPr txBox="1"/>
          <p:nvPr/>
        </p:nvSpPr>
        <p:spPr>
          <a:xfrm>
            <a:off x="813816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cura di: </a:t>
            </a:r>
            <a:r>
              <a:rPr lang="en-US" sz="1400" b="1" dirty="0">
                <a:solidFill>
                  <a:schemeClr val="tx2"/>
                </a:solidFill>
              </a:rPr>
              <a:t>Food Hub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zi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2542032"/>
            <a:ext cx="4572000" cy="43159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3816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accent4"/>
                </a:solidFill>
              </a:rPr>
              <a:t>01</a:t>
            </a:r>
            <a:endParaRPr lang="en-US" sz="2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3816" y="246888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Il percorso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Due sfide, cinque gruppi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813816" y="1645920"/>
            <a:ext cx="5099152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88136" y="1847088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SFIDA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88136" y="214884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Naturitalia</a:t>
            </a:r>
            <a:endParaRPr lang="en-US" sz="2400" dirty="0"/>
          </a:p>
        </p:txBody>
      </p:sp>
      <p:sp>
        <p:nvSpPr>
          <p:cNvPr id="6" name="Elenco card 1"/>
          <p:cNvSpPr txBox="1"/>
          <p:nvPr/>
        </p:nvSpPr>
        <p:spPr>
          <a:xfrm>
            <a:off x="1088136" y="2697480"/>
            <a:ext cx="455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Tracciabilità e interoperabilità nella filiera del kiwi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Il viaggio di prodotto e confezione, dal campo allo scaffale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linguaggio comune per i dati di filiera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Mentor: Greta Gubellini e Andrea Severi</a:t>
            </a:r>
            <a:endParaRPr lang="en-US" sz="1800" dirty="0"/>
          </a:p>
        </p:txBody>
      </p:sp>
      <p:sp>
        <p:nvSpPr>
          <p:cNvPr id="7" name="Card 2"/>
          <p:cNvSpPr/>
          <p:nvPr/>
        </p:nvSpPr>
        <p:spPr>
          <a:xfrm>
            <a:off x="6278728" y="1645920"/>
            <a:ext cx="5099152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3048" y="1847088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SFIDA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14884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RAGO</a:t>
            </a:r>
            <a:endParaRPr lang="en-US" sz="2400" dirty="0"/>
          </a:p>
        </p:txBody>
      </p:sp>
      <p:sp>
        <p:nvSpPr>
          <p:cNvPr id="10" name="Elenco card 2"/>
          <p:cNvSpPr txBox="1"/>
          <p:nvPr/>
        </p:nvSpPr>
        <p:spPr>
          <a:xfrm>
            <a:off x="6553048" y="2697480"/>
            <a:ext cx="455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Tracciabilità e sicurezza alimentare nella IV gamma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 temperatura da dato registrato a decisione in tempo reale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Shelf-life residua e accettazione della merce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Mentor: Giuseppe Esposito</a:t>
            </a:r>
            <a:endParaRPr lang="en-US" sz="1800" dirty="0"/>
          </a:p>
        </p:txBody>
      </p:sp>
      <p:sp>
        <p:nvSpPr>
          <p:cNvPr id="11" name="Nota"/>
          <p:cNvSpPr/>
          <p:nvPr/>
        </p:nvSpPr>
        <p:spPr>
          <a:xfrm>
            <a:off x="813816" y="5440680"/>
            <a:ext cx="10564063" cy="566928"/>
          </a:xfrm>
          <a:prstGeom prst="roundRect">
            <a:avLst>
              <a:gd name="adj" fmla="val 161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sto nota"/>
          <p:cNvSpPr txBox="1"/>
          <p:nvPr/>
        </p:nvSpPr>
        <p:spPr>
          <a:xfrm>
            <a:off x="1042416" y="5440680"/>
            <a:ext cx="101068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25 partecipanti, 5 gruppi da 5 persone</a:t>
            </a:r>
            <a:r>
              <a:rPr lang="en-US" sz="1600" dirty="0">
                <a:solidFill>
                  <a:schemeClr val="tx1"/>
                </a:solidFill>
              </a:rPr>
              <a:t> con competenze complementari: tre gruppi lavorano su una sfida, due sull'altra.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Cinque settimane, cinque tappe</a:t>
            </a:r>
            <a:endParaRPr lang="en-US" sz="3600" dirty="0"/>
          </a:p>
        </p:txBody>
      </p:sp>
      <p:sp>
        <p:nvSpPr>
          <p:cNvPr id="3" name="Linea del tempo"/>
          <p:cNvSpPr/>
          <p:nvPr/>
        </p:nvSpPr>
        <p:spPr>
          <a:xfrm>
            <a:off x="950976" y="2103120"/>
            <a:ext cx="10289743" cy="0"/>
          </a:xfrm>
          <a:prstGeom prst="line">
            <a:avLst/>
          </a:prstGeom>
          <a:noFill/>
          <a:ln w="38100">
            <a:solidFill>
              <a:srgbClr val="EADFD6"/>
            </a:solidFill>
            <a:prstDash val="solid"/>
          </a:ln>
        </p:spPr>
      </p:sp>
      <p:sp>
        <p:nvSpPr>
          <p:cNvPr id="4" name="Punto settimana 1"/>
          <p:cNvSpPr/>
          <p:nvPr/>
        </p:nvSpPr>
        <p:spPr>
          <a:xfrm>
            <a:off x="813816" y="1965960"/>
            <a:ext cx="274320" cy="2743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242316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269748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 · 18 ottobre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3017520"/>
            <a:ext cx="19299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Gap analysis e mappatura</a:t>
            </a:r>
            <a:endParaRPr lang="en-US" sz="1800" dirty="0"/>
          </a:p>
        </p:txBody>
      </p:sp>
      <p:sp>
        <p:nvSpPr>
          <p:cNvPr id="8" name="Elenco settimana 1"/>
          <p:cNvSpPr txBox="1"/>
          <p:nvPr/>
        </p:nvSpPr>
        <p:spPr>
          <a:xfrm>
            <a:off x="813816" y="3794760"/>
            <a:ext cx="1929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mappa della filiera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Dove si perde l'informazione</a:t>
            </a:r>
            <a:endParaRPr lang="en-US" sz="1400" dirty="0"/>
          </a:p>
        </p:txBody>
      </p:sp>
      <p:sp>
        <p:nvSpPr>
          <p:cNvPr id="9" name="Punto settimana 2"/>
          <p:cNvSpPr/>
          <p:nvPr/>
        </p:nvSpPr>
        <p:spPr>
          <a:xfrm>
            <a:off x="2972349" y="1965960"/>
            <a:ext cx="274320" cy="27432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2349" y="242316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72349" y="269748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19 · 25 ottobre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72349" y="3017520"/>
            <a:ext cx="19299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Benchmark tecnologico</a:t>
            </a:r>
            <a:endParaRPr lang="en-US" sz="1800" dirty="0"/>
          </a:p>
        </p:txBody>
      </p:sp>
      <p:sp>
        <p:nvSpPr>
          <p:cNvPr id="13" name="Elenco settimana 2"/>
          <p:cNvSpPr txBox="1"/>
          <p:nvPr/>
        </p:nvSpPr>
        <p:spPr>
          <a:xfrm>
            <a:off x="2972349" y="3794760"/>
            <a:ext cx="1929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soluzioni possibili a confronto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scelta motivata</a:t>
            </a:r>
            <a:endParaRPr lang="en-US" sz="1400" dirty="0"/>
          </a:p>
        </p:txBody>
      </p:sp>
      <p:sp>
        <p:nvSpPr>
          <p:cNvPr id="14" name="Punto settimana 3"/>
          <p:cNvSpPr/>
          <p:nvPr/>
        </p:nvSpPr>
        <p:spPr>
          <a:xfrm>
            <a:off x="5130881" y="1965960"/>
            <a:ext cx="274320" cy="27432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0881" y="242316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30881" y="269748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26 ottobre · 1 novembre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30881" y="3017520"/>
            <a:ext cx="19299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Modello di soluzione</a:t>
            </a:r>
            <a:endParaRPr lang="en-US" sz="1800" dirty="0"/>
          </a:p>
        </p:txBody>
      </p:sp>
      <p:sp>
        <p:nvSpPr>
          <p:cNvPr id="18" name="Elenco settimana 3"/>
          <p:cNvSpPr txBox="1"/>
          <p:nvPr/>
        </p:nvSpPr>
        <p:spPr>
          <a:xfrm>
            <a:off x="5130881" y="3794760"/>
            <a:ext cx="1929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vostra proposta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Regole, ruoli e accesso ai dati</a:t>
            </a:r>
            <a:endParaRPr lang="en-US" sz="1400" dirty="0"/>
          </a:p>
        </p:txBody>
      </p:sp>
      <p:sp>
        <p:nvSpPr>
          <p:cNvPr id="19" name="Punto settimana 4"/>
          <p:cNvSpPr/>
          <p:nvPr/>
        </p:nvSpPr>
        <p:spPr>
          <a:xfrm>
            <a:off x="7289414" y="1965960"/>
            <a:ext cx="274320" cy="2743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89414" y="242316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89414" y="269748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 · 8 novembre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89414" y="3017520"/>
            <a:ext cx="19299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Piano pilota e KPI</a:t>
            </a:r>
            <a:endParaRPr lang="en-US" sz="1800" dirty="0"/>
          </a:p>
        </p:txBody>
      </p:sp>
      <p:sp>
        <p:nvSpPr>
          <p:cNvPr id="23" name="Elenco settimana 4"/>
          <p:cNvSpPr txBox="1"/>
          <p:nvPr/>
        </p:nvSpPr>
        <p:spPr>
          <a:xfrm>
            <a:off x="7289414" y="3794760"/>
            <a:ext cx="1929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pilota concreto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Indicatori e costi</a:t>
            </a:r>
            <a:endParaRPr lang="en-US" sz="1400" dirty="0"/>
          </a:p>
        </p:txBody>
      </p:sp>
      <p:sp>
        <p:nvSpPr>
          <p:cNvPr id="24" name="Punto settimana 5"/>
          <p:cNvSpPr/>
          <p:nvPr/>
        </p:nvSpPr>
        <p:spPr>
          <a:xfrm>
            <a:off x="9447947" y="1965960"/>
            <a:ext cx="274320" cy="27432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47947" y="242316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447947" y="2697480"/>
            <a:ext cx="1929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9 · 16 novembre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447947" y="3017520"/>
            <a:ext cx="19299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Presentazione finale</a:t>
            </a:r>
            <a:endParaRPr lang="en-US" sz="1800" dirty="0"/>
          </a:p>
        </p:txBody>
      </p:sp>
      <p:sp>
        <p:nvSpPr>
          <p:cNvPr id="28" name="Elenco settimana 5"/>
          <p:cNvSpPr txBox="1"/>
          <p:nvPr/>
        </p:nvSpPr>
        <p:spPr>
          <a:xfrm>
            <a:off x="9447947" y="3794760"/>
            <a:ext cx="192993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Preparazione della presentazione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16 novembre</a:t>
            </a:r>
            <a:r>
              <a:rPr lang="en-US" sz="1400" dirty="0">
                <a:solidFill>
                  <a:schemeClr val="tx1"/>
                </a:solidFill>
              </a:rPr>
              <a:t>: presentazione finale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zi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2542032"/>
            <a:ext cx="4572000" cy="43159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3816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accent4"/>
                </a:solidFill>
              </a:rPr>
              <a:t>02</a:t>
            </a:r>
            <a:endParaRPr lang="en-US" sz="2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3816" y="246888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Calendario</a:t>
            </a:r>
            <a:endParaRPr lang="en-US" sz="7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Due appuntamenti a settimana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813816" y="1645920"/>
            <a:ext cx="5099152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88136" y="1847088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MARTEDÌ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88136" y="214884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Sessione condivisa, 1 ora e mezza</a:t>
            </a:r>
            <a:endParaRPr lang="en-US" sz="2400" dirty="0"/>
          </a:p>
        </p:txBody>
      </p:sp>
      <p:sp>
        <p:nvSpPr>
          <p:cNvPr id="6" name="Elenco card 1"/>
          <p:cNvSpPr txBox="1"/>
          <p:nvPr/>
        </p:nvSpPr>
        <p:spPr>
          <a:xfrm>
            <a:off x="1088136" y="2697480"/>
            <a:ext cx="455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Dalle 17:00 alle 18:30, tutti insieme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 i partner tecnici e i mentor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Confronto tra gruppi e tra sfide diverse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Problemi comuni, domande, aggiornamenti</a:t>
            </a:r>
            <a:endParaRPr lang="en-US" sz="1800" dirty="0"/>
          </a:p>
        </p:txBody>
      </p:sp>
      <p:sp>
        <p:nvSpPr>
          <p:cNvPr id="7" name="Card 2"/>
          <p:cNvSpPr/>
          <p:nvPr/>
        </p:nvSpPr>
        <p:spPr>
          <a:xfrm>
            <a:off x="6278728" y="1645920"/>
            <a:ext cx="5099152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3048" y="1847088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VENERDÌ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148840"/>
            <a:ext cx="455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Mentoring privato, 30 minuti</a:t>
            </a:r>
            <a:endParaRPr lang="en-US" sz="2400" dirty="0"/>
          </a:p>
        </p:txBody>
      </p:sp>
      <p:sp>
        <p:nvSpPr>
          <p:cNvPr id="10" name="Elenco card 2"/>
          <p:cNvSpPr txBox="1"/>
          <p:nvPr/>
        </p:nvSpPr>
        <p:spPr>
          <a:xfrm>
            <a:off x="6553048" y="2697480"/>
            <a:ext cx="455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Il vostro gruppo con il mentor dell'azienda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Dalle 16:00 alle 18:30, un turno da 30 minuti per gruppo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Domande mirate sulla vostra sfida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Gruppo, orario e mentor vi vengono comunicati</a:t>
            </a:r>
            <a:endParaRPr lang="en-US" sz="1800" dirty="0"/>
          </a:p>
        </p:txBody>
      </p:sp>
      <p:sp>
        <p:nvSpPr>
          <p:cNvPr id="11" name="Nota"/>
          <p:cNvSpPr/>
          <p:nvPr/>
        </p:nvSpPr>
        <p:spPr>
          <a:xfrm>
            <a:off x="813816" y="5440680"/>
            <a:ext cx="10564063" cy="566928"/>
          </a:xfrm>
          <a:prstGeom prst="roundRect">
            <a:avLst>
              <a:gd name="adj" fmla="val 161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sto nota"/>
          <p:cNvSpPr txBox="1"/>
          <p:nvPr/>
        </p:nvSpPr>
        <p:spPr>
          <a:xfrm>
            <a:off x="1042416" y="5440680"/>
            <a:ext cx="101068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Sessioni condivise e private si svolgono </a:t>
            </a:r>
            <a:r>
              <a:rPr lang="en-US" sz="1600" b="1" dirty="0">
                <a:solidFill>
                  <a:schemeClr val="tx1"/>
                </a:solidFill>
              </a:rPr>
              <a:t>tutte sulla piattaforma</a:t>
            </a:r>
            <a:r>
              <a:rPr lang="en-US" sz="1600" dirty="0">
                <a:solidFill>
                  <a:schemeClr val="tx1"/>
                </a:solidFill>
              </a:rPr>
              <a:t>: niente link da cercare altrove.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Le date, settimana per settimana</a:t>
            </a:r>
            <a:endParaRPr lang="en-US" sz="3600" dirty="0"/>
          </a:p>
        </p:txBody>
      </p:sp>
      <p:sp>
        <p:nvSpPr>
          <p:cNvPr id="3" name="Settimana 1"/>
          <p:cNvSpPr/>
          <p:nvPr/>
        </p:nvSpPr>
        <p:spPr>
          <a:xfrm>
            <a:off x="813816" y="1600200"/>
            <a:ext cx="1951878" cy="370332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78408" y="1737360"/>
            <a:ext cx="1622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2039112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Gap analysis</a:t>
            </a:r>
            <a:endParaRPr lang="en-US" sz="1600" dirty="0"/>
          </a:p>
        </p:txBody>
      </p:sp>
      <p:sp>
        <p:nvSpPr>
          <p:cNvPr id="6" name="Martedì 1"/>
          <p:cNvSpPr/>
          <p:nvPr/>
        </p:nvSpPr>
        <p:spPr>
          <a:xfrm>
            <a:off x="950976" y="256032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sto martedì 1"/>
          <p:cNvSpPr txBox="1"/>
          <p:nvPr/>
        </p:nvSpPr>
        <p:spPr>
          <a:xfrm>
            <a:off x="1069848" y="256032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Martedì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13 ottobre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Sessione condivisa 17:00</a:t>
            </a:r>
            <a:endParaRPr lang="en-US" sz="1200" dirty="0"/>
          </a:p>
        </p:txBody>
      </p:sp>
      <p:sp>
        <p:nvSpPr>
          <p:cNvPr id="8" name="Venerdì 1"/>
          <p:cNvSpPr/>
          <p:nvPr/>
        </p:nvSpPr>
        <p:spPr>
          <a:xfrm>
            <a:off x="950976" y="388620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sto venerdì 1"/>
          <p:cNvSpPr txBox="1"/>
          <p:nvPr/>
        </p:nvSpPr>
        <p:spPr>
          <a:xfrm>
            <a:off x="1069848" y="388620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Venerdì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16 ottobre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Mentoring privato</a:t>
            </a:r>
            <a:endParaRPr lang="en-US" sz="1200" dirty="0"/>
          </a:p>
        </p:txBody>
      </p:sp>
      <p:sp>
        <p:nvSpPr>
          <p:cNvPr id="10" name="Settimana 2"/>
          <p:cNvSpPr/>
          <p:nvPr/>
        </p:nvSpPr>
        <p:spPr>
          <a:xfrm>
            <a:off x="2966862" y="1600200"/>
            <a:ext cx="1951878" cy="370332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131454" y="1737360"/>
            <a:ext cx="1622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31454" y="2039112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Benchmark</a:t>
            </a:r>
            <a:endParaRPr lang="en-US" sz="1600" dirty="0"/>
          </a:p>
        </p:txBody>
      </p:sp>
      <p:sp>
        <p:nvSpPr>
          <p:cNvPr id="13" name="Martedì 2"/>
          <p:cNvSpPr/>
          <p:nvPr/>
        </p:nvSpPr>
        <p:spPr>
          <a:xfrm>
            <a:off x="3104022" y="256032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sto martedì 2"/>
          <p:cNvSpPr txBox="1"/>
          <p:nvPr/>
        </p:nvSpPr>
        <p:spPr>
          <a:xfrm>
            <a:off x="3222894" y="256032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Martedì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20 ottobre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Sessione condivisa 17:00</a:t>
            </a:r>
            <a:endParaRPr lang="en-US" sz="1200" dirty="0"/>
          </a:p>
        </p:txBody>
      </p:sp>
      <p:sp>
        <p:nvSpPr>
          <p:cNvPr id="15" name="Venerdì 2"/>
          <p:cNvSpPr/>
          <p:nvPr/>
        </p:nvSpPr>
        <p:spPr>
          <a:xfrm>
            <a:off x="3104022" y="388620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sto venerdì 2"/>
          <p:cNvSpPr txBox="1"/>
          <p:nvPr/>
        </p:nvSpPr>
        <p:spPr>
          <a:xfrm>
            <a:off x="3222894" y="388620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Venerdì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23 ottobre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Mentoring privato</a:t>
            </a:r>
            <a:endParaRPr lang="en-US" sz="1200" dirty="0"/>
          </a:p>
        </p:txBody>
      </p:sp>
      <p:sp>
        <p:nvSpPr>
          <p:cNvPr id="17" name="Settimana 3"/>
          <p:cNvSpPr/>
          <p:nvPr/>
        </p:nvSpPr>
        <p:spPr>
          <a:xfrm>
            <a:off x="5119908" y="1600200"/>
            <a:ext cx="1951878" cy="370332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284500" y="1737360"/>
            <a:ext cx="1622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84500" y="2039112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Modello</a:t>
            </a:r>
            <a:endParaRPr lang="en-US" sz="1600" dirty="0"/>
          </a:p>
        </p:txBody>
      </p:sp>
      <p:sp>
        <p:nvSpPr>
          <p:cNvPr id="20" name="Martedì 3"/>
          <p:cNvSpPr/>
          <p:nvPr/>
        </p:nvSpPr>
        <p:spPr>
          <a:xfrm>
            <a:off x="5257068" y="256032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sto martedì 3"/>
          <p:cNvSpPr txBox="1"/>
          <p:nvPr/>
        </p:nvSpPr>
        <p:spPr>
          <a:xfrm>
            <a:off x="5375940" y="256032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Martedì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27 ottobre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Sessione condivisa 17:00</a:t>
            </a:r>
            <a:endParaRPr lang="en-US" sz="1200" dirty="0"/>
          </a:p>
        </p:txBody>
      </p:sp>
      <p:sp>
        <p:nvSpPr>
          <p:cNvPr id="22" name="Venerdì 3"/>
          <p:cNvSpPr/>
          <p:nvPr/>
        </p:nvSpPr>
        <p:spPr>
          <a:xfrm>
            <a:off x="5257068" y="388620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sto venerdì 3"/>
          <p:cNvSpPr txBox="1"/>
          <p:nvPr/>
        </p:nvSpPr>
        <p:spPr>
          <a:xfrm>
            <a:off x="5375940" y="388620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Venerdì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 ottobre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Mentoring privato</a:t>
            </a:r>
            <a:endParaRPr lang="en-US" sz="1200" dirty="0"/>
          </a:p>
        </p:txBody>
      </p:sp>
      <p:sp>
        <p:nvSpPr>
          <p:cNvPr id="24" name="Settimana 4"/>
          <p:cNvSpPr/>
          <p:nvPr/>
        </p:nvSpPr>
        <p:spPr>
          <a:xfrm>
            <a:off x="7272955" y="1600200"/>
            <a:ext cx="1951878" cy="370332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437547" y="1737360"/>
            <a:ext cx="1622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37547" y="2039112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Pilota e KPI</a:t>
            </a:r>
            <a:endParaRPr lang="en-US" sz="1600" dirty="0"/>
          </a:p>
        </p:txBody>
      </p:sp>
      <p:sp>
        <p:nvSpPr>
          <p:cNvPr id="27" name="Martedì 4"/>
          <p:cNvSpPr/>
          <p:nvPr/>
        </p:nvSpPr>
        <p:spPr>
          <a:xfrm>
            <a:off x="7410115" y="256032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sto martedì 4"/>
          <p:cNvSpPr txBox="1"/>
          <p:nvPr/>
        </p:nvSpPr>
        <p:spPr>
          <a:xfrm>
            <a:off x="7528987" y="256032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Martedì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 novembre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Sessione condivisa 17:00</a:t>
            </a:r>
            <a:endParaRPr lang="en-US" sz="1200" dirty="0"/>
          </a:p>
        </p:txBody>
      </p:sp>
      <p:sp>
        <p:nvSpPr>
          <p:cNvPr id="29" name="Venerdì 4"/>
          <p:cNvSpPr/>
          <p:nvPr/>
        </p:nvSpPr>
        <p:spPr>
          <a:xfrm>
            <a:off x="7410115" y="388620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sto venerdì 4"/>
          <p:cNvSpPr txBox="1"/>
          <p:nvPr/>
        </p:nvSpPr>
        <p:spPr>
          <a:xfrm>
            <a:off x="7528987" y="388620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Venerdì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 novembre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Mentoring privato</a:t>
            </a:r>
            <a:endParaRPr lang="en-US" sz="1200" dirty="0"/>
          </a:p>
        </p:txBody>
      </p:sp>
      <p:sp>
        <p:nvSpPr>
          <p:cNvPr id="31" name="Settimana 5"/>
          <p:cNvSpPr/>
          <p:nvPr/>
        </p:nvSpPr>
        <p:spPr>
          <a:xfrm>
            <a:off x="9426001" y="1600200"/>
            <a:ext cx="1951878" cy="370332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590593" y="1737360"/>
            <a:ext cx="16226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SETTIMANA 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590593" y="2039112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Presentazione</a:t>
            </a:r>
            <a:endParaRPr lang="en-US" sz="1600" dirty="0"/>
          </a:p>
        </p:txBody>
      </p:sp>
      <p:sp>
        <p:nvSpPr>
          <p:cNvPr id="34" name="Martedì 5"/>
          <p:cNvSpPr/>
          <p:nvPr/>
        </p:nvSpPr>
        <p:spPr>
          <a:xfrm>
            <a:off x="9563161" y="256032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sto martedì 5"/>
          <p:cNvSpPr txBox="1"/>
          <p:nvPr/>
        </p:nvSpPr>
        <p:spPr>
          <a:xfrm>
            <a:off x="9682033" y="256032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Martedì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 novembre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Sessione condivisa 17:00</a:t>
            </a:r>
            <a:endParaRPr lang="en-US" sz="1200" dirty="0"/>
          </a:p>
        </p:txBody>
      </p:sp>
      <p:sp>
        <p:nvSpPr>
          <p:cNvPr id="36" name="Venerdì 5"/>
          <p:cNvSpPr/>
          <p:nvPr/>
        </p:nvSpPr>
        <p:spPr>
          <a:xfrm>
            <a:off x="9563161" y="3886200"/>
            <a:ext cx="1677558" cy="1188720"/>
          </a:xfrm>
          <a:prstGeom prst="roundRect">
            <a:avLst>
              <a:gd name="adj" fmla="val 769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sto venerdì 5"/>
          <p:cNvSpPr txBox="1"/>
          <p:nvPr/>
        </p:nvSpPr>
        <p:spPr>
          <a:xfrm>
            <a:off x="9682033" y="3886200"/>
            <a:ext cx="14398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Venerdì</a:t>
            </a:r>
            <a:endParaRPr lang="en-US" sz="12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13 novembre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Mentoring privato</a:t>
            </a:r>
            <a:endParaRPr lang="en-US" sz="1200" dirty="0"/>
          </a:p>
        </p:txBody>
      </p:sp>
      <p:sp>
        <p:nvSpPr>
          <p:cNvPr id="38" name="Nota"/>
          <p:cNvSpPr/>
          <p:nvPr/>
        </p:nvSpPr>
        <p:spPr>
          <a:xfrm>
            <a:off x="813816" y="5486400"/>
            <a:ext cx="10564063" cy="566928"/>
          </a:xfrm>
          <a:prstGeom prst="roundRect">
            <a:avLst>
              <a:gd name="adj" fmla="val 161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esto nota"/>
          <p:cNvSpPr txBox="1"/>
          <p:nvPr/>
        </p:nvSpPr>
        <p:spPr>
          <a:xfrm>
            <a:off x="1042416" y="5486400"/>
            <a:ext cx="101068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Lunedì 16 novembre</a:t>
            </a:r>
            <a:r>
              <a:rPr lang="en-US" sz="1600" dirty="0">
                <a:solidFill>
                  <a:schemeClr val="tx1"/>
                </a:solidFill>
              </a:rPr>
              <a:t>: presentazione finale dei gruppi.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zi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2542032"/>
            <a:ext cx="4572000" cy="43159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3816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accent4"/>
                </a:solidFill>
              </a:rPr>
              <a:t>03</a:t>
            </a:r>
            <a:endParaRPr lang="en-US" sz="2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3816" y="246888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Lavoro in gruppo</a:t>
            </a:r>
            <a:endParaRPr lang="en-US" sz="7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Il cuore del percorso è il lavoro autonomo</a:t>
            </a:r>
            <a:endParaRPr lang="en-US" sz="3600" dirty="0"/>
          </a:p>
        </p:txBody>
      </p:sp>
      <p:pic>
        <p:nvPicPr>
          <p:cNvPr id="3" name="Illustrazione" descr="Tre persone collegate tra loro, un gruppo di lavo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7399" y="1874520"/>
            <a:ext cx="3840480" cy="3840480"/>
          </a:xfrm>
          <a:prstGeom prst="rect">
            <a:avLst/>
          </a:prstGeom>
        </p:spPr>
      </p:pic>
      <p:sp>
        <p:nvSpPr>
          <p:cNvPr id="4" name="Elenco"/>
          <p:cNvSpPr txBox="1"/>
          <p:nvPr/>
        </p:nvSpPr>
        <p:spPr>
          <a:xfrm>
            <a:off x="813816" y="1691640"/>
            <a:ext cx="6266383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 sessioni sono solo una parte: il lavoro vero lo fate </a:t>
            </a:r>
            <a:r>
              <a:rPr lang="en-US" sz="2000" b="1" dirty="0">
                <a:solidFill>
                  <a:schemeClr val="tx1"/>
                </a:solidFill>
              </a:rPr>
              <a:t>voi, nel gruppo</a:t>
            </a:r>
            <a:r>
              <a:rPr lang="en-US" sz="2000" dirty="0">
                <a:solidFill>
                  <a:schemeClr val="tx1"/>
                </a:solidFill>
              </a:rPr>
              <a:t>, tra un incontro e l'altro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Ogni gruppo ha </a:t>
            </a:r>
            <a:r>
              <a:rPr lang="en-US" sz="2000" b="1" dirty="0">
                <a:solidFill>
                  <a:schemeClr val="tx1"/>
                </a:solidFill>
              </a:rPr>
              <a:t>libertà di movimento</a:t>
            </a:r>
            <a:r>
              <a:rPr lang="en-US" sz="2000" dirty="0">
                <a:solidFill>
                  <a:schemeClr val="tx1"/>
                </a:solidFill>
              </a:rPr>
              <a:t>: decidete come organizzarvi, quando vedervi, quali strumenti usare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 tappe settimanali sono la traccia, il modo di percorrerla è vostro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 mentor orientano e stimolano, le scelte restano al gruppo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Collaborare davvero</a:t>
            </a:r>
            <a:endParaRPr lang="en-US" sz="3600" dirty="0"/>
          </a:p>
        </p:txBody>
      </p:sp>
      <p:pic>
        <p:nvPicPr>
          <p:cNvPr id="3" name="Illustrazione" descr="Quattro pezzi di puzzle che si incastra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74520"/>
            <a:ext cx="3840480" cy="3840480"/>
          </a:xfrm>
          <a:prstGeom prst="rect">
            <a:avLst/>
          </a:prstGeom>
        </p:spPr>
      </p:pic>
      <p:sp>
        <p:nvSpPr>
          <p:cNvPr id="4" name="Elenco"/>
          <p:cNvSpPr txBox="1"/>
          <p:nvPr/>
        </p:nvSpPr>
        <p:spPr>
          <a:xfrm>
            <a:off x="5111496" y="1691640"/>
            <a:ext cx="6266383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Mettete in comune le competenze</a:t>
            </a:r>
            <a:r>
              <a:rPr lang="en-US" sz="2000" dirty="0">
                <a:solidFill>
                  <a:schemeClr val="tx1"/>
                </a:solidFill>
              </a:rPr>
              <a:t>: nel gruppo ci sono profili diversi, usateli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Incontratevi con regolarità</a:t>
            </a:r>
            <a:r>
              <a:rPr lang="en-US" sz="2000" dirty="0">
                <a:solidFill>
                  <a:schemeClr val="tx1"/>
                </a:solidFill>
              </a:rPr>
              <a:t>, anche solo per 15 minuti di aggiornamento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Condividete idee, dubbi e bozze</a:t>
            </a:r>
            <a:r>
              <a:rPr lang="en-US" sz="2000" dirty="0">
                <a:solidFill>
                  <a:schemeClr val="tx1"/>
                </a:solidFill>
              </a:rPr>
              <a:t>: il confronto migliora il lavoro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Date spazio a tutti</a:t>
            </a:r>
            <a:r>
              <a:rPr lang="en-US" sz="2000" dirty="0">
                <a:solidFill>
                  <a:schemeClr val="tx1"/>
                </a:solidFill>
              </a:rPr>
              <a:t>: ogni punto di vista conta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Nelle sessioni condivise confrontatevi </a:t>
            </a:r>
            <a:r>
              <a:rPr lang="en-US" sz="2000" b="1" dirty="0">
                <a:solidFill>
                  <a:schemeClr val="tx1"/>
                </a:solidFill>
              </a:rPr>
              <a:t>anche con gli altri gruppi</a:t>
            </a:r>
            <a:r>
              <a:rPr lang="en-US" sz="2000" dirty="0">
                <a:solidFill>
                  <a:schemeClr val="tx1"/>
                </a:solidFill>
              </a:rPr>
              <a:t>, sulla stessa sfida e sull'altra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Come prepararsi alle sessioni</a:t>
            </a:r>
            <a:endParaRPr lang="en-US" sz="3600" dirty="0"/>
          </a:p>
        </p:txBody>
      </p:sp>
      <p:sp>
        <p:nvSpPr>
          <p:cNvPr id="3" name="Passo 1"/>
          <p:cNvSpPr/>
          <p:nvPr/>
        </p:nvSpPr>
        <p:spPr>
          <a:xfrm>
            <a:off x="813816" y="169164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42416" y="169164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sto passo 1"/>
          <p:cNvSpPr txBox="1"/>
          <p:nvPr/>
        </p:nvSpPr>
        <p:spPr>
          <a:xfrm>
            <a:off x="1728216" y="182880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Raccogliete le domande</a:t>
            </a:r>
            <a:r>
              <a:rPr lang="en-US" sz="1800" dirty="0">
                <a:solidFill>
                  <a:schemeClr val="tx1"/>
                </a:solidFill>
              </a:rPr>
              <a:t> nel gruppo, prima di ogni incontro</a:t>
            </a:r>
            <a:endParaRPr lang="en-US" sz="1800" dirty="0"/>
          </a:p>
        </p:txBody>
      </p:sp>
      <p:sp>
        <p:nvSpPr>
          <p:cNvPr id="6" name="Passo 2"/>
          <p:cNvSpPr/>
          <p:nvPr/>
        </p:nvSpPr>
        <p:spPr>
          <a:xfrm>
            <a:off x="4402226" y="169164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30826" y="169164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8" name="Testo passo 2"/>
          <p:cNvSpPr txBox="1"/>
          <p:nvPr/>
        </p:nvSpPr>
        <p:spPr>
          <a:xfrm>
            <a:off x="5316626" y="182880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Scegliete le più importanti</a:t>
            </a:r>
            <a:r>
              <a:rPr lang="en-US" sz="1800" dirty="0">
                <a:solidFill>
                  <a:schemeClr val="tx1"/>
                </a:solidFill>
              </a:rPr>
              <a:t>: in 30 minuti ne servono poche e buone</a:t>
            </a:r>
            <a:endParaRPr lang="en-US" sz="1800" dirty="0"/>
          </a:p>
        </p:txBody>
      </p:sp>
      <p:sp>
        <p:nvSpPr>
          <p:cNvPr id="9" name="Passo 3"/>
          <p:cNvSpPr/>
          <p:nvPr/>
        </p:nvSpPr>
        <p:spPr>
          <a:xfrm>
            <a:off x="7990637" y="169164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19237" y="169164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1" name="Testo passo 3"/>
          <p:cNvSpPr txBox="1"/>
          <p:nvPr/>
        </p:nvSpPr>
        <p:spPr>
          <a:xfrm>
            <a:off x="8905037" y="182880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Capite a chi rivolgerle</a:t>
            </a:r>
            <a:r>
              <a:rPr lang="en-US" sz="1800" dirty="0">
                <a:solidFill>
                  <a:schemeClr val="tx1"/>
                </a:solidFill>
              </a:rPr>
              <a:t>: mentor, normativa o dati</a:t>
            </a:r>
            <a:endParaRPr lang="en-US" sz="1800" dirty="0"/>
          </a:p>
        </p:txBody>
      </p:sp>
      <p:sp>
        <p:nvSpPr>
          <p:cNvPr id="12" name="Passo 4"/>
          <p:cNvSpPr/>
          <p:nvPr/>
        </p:nvSpPr>
        <p:spPr>
          <a:xfrm>
            <a:off x="813816" y="384048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42416" y="384048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4" name="Testo passo 4"/>
          <p:cNvSpPr txBox="1"/>
          <p:nvPr/>
        </p:nvSpPr>
        <p:spPr>
          <a:xfrm>
            <a:off x="1728216" y="397764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Portate qualcosa su cui discutere</a:t>
            </a:r>
            <a:r>
              <a:rPr lang="en-US" sz="1800" dirty="0">
                <a:solidFill>
                  <a:schemeClr val="tx1"/>
                </a:solidFill>
              </a:rPr>
              <a:t>: dati, bozze, schemi</a:t>
            </a:r>
            <a:endParaRPr lang="en-US" sz="1800" dirty="0"/>
          </a:p>
        </p:txBody>
      </p:sp>
      <p:sp>
        <p:nvSpPr>
          <p:cNvPr id="15" name="Passo 5"/>
          <p:cNvSpPr/>
          <p:nvPr/>
        </p:nvSpPr>
        <p:spPr>
          <a:xfrm>
            <a:off x="4402226" y="384048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30826" y="384048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</a:t>
            </a:r>
            <a:endParaRPr lang="en-US" sz="4000" dirty="0"/>
          </a:p>
        </p:txBody>
      </p:sp>
      <p:sp>
        <p:nvSpPr>
          <p:cNvPr id="17" name="Testo passo 5"/>
          <p:cNvSpPr txBox="1"/>
          <p:nvPr/>
        </p:nvSpPr>
        <p:spPr>
          <a:xfrm>
            <a:off x="5316626" y="397764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Prendete appunti</a:t>
            </a:r>
            <a:r>
              <a:rPr lang="en-US" sz="1800" dirty="0">
                <a:solidFill>
                  <a:schemeClr val="tx1"/>
                </a:solidFill>
              </a:rPr>
              <a:t> durante la sessione</a:t>
            </a:r>
            <a:endParaRPr lang="en-US" sz="1800" dirty="0"/>
          </a:p>
        </p:txBody>
      </p:sp>
      <p:sp>
        <p:nvSpPr>
          <p:cNvPr id="18" name="Passo 6"/>
          <p:cNvSpPr/>
          <p:nvPr/>
        </p:nvSpPr>
        <p:spPr>
          <a:xfrm>
            <a:off x="7990637" y="384048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19237" y="384048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</p:txBody>
      </p:sp>
      <p:sp>
        <p:nvSpPr>
          <p:cNvPr id="20" name="Testo passo 6"/>
          <p:cNvSpPr txBox="1"/>
          <p:nvPr/>
        </p:nvSpPr>
        <p:spPr>
          <a:xfrm>
            <a:off x="8905037" y="397764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Condividete le risposte</a:t>
            </a:r>
            <a:r>
              <a:rPr lang="en-US" sz="1800" dirty="0">
                <a:solidFill>
                  <a:schemeClr val="tx1"/>
                </a:solidFill>
              </a:rPr>
              <a:t> con tutto il gruppo e decidete i passi successivi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chi rivolgere le domande</a:t>
            </a:r>
            <a:endParaRPr lang="en-US" sz="3600" dirty="0"/>
          </a:p>
        </p:txBody>
      </p:sp>
      <p:sp>
        <p:nvSpPr>
          <p:cNvPr id="3" name="Chi 1"/>
          <p:cNvSpPr/>
          <p:nvPr/>
        </p:nvSpPr>
        <p:spPr>
          <a:xfrm>
            <a:off x="813816" y="182880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96696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Mentor aziendali</a:t>
            </a:r>
            <a:endParaRPr lang="en-US" sz="1800" dirty="0"/>
          </a:p>
        </p:txBody>
      </p:sp>
      <p:sp>
        <p:nvSpPr>
          <p:cNvPr id="5" name="Freccia 1"/>
          <p:cNvSpPr/>
          <p:nvPr/>
        </p:nvSpPr>
        <p:spPr>
          <a:xfrm>
            <a:off x="3602736" y="2084832"/>
            <a:ext cx="411480" cy="274320"/>
          </a:xfrm>
          <a:prstGeom prst="rightArrow">
            <a:avLst/>
          </a:prstGeom>
          <a:solidFill>
            <a:srgbClr val="EADFD6"/>
          </a:solidFill>
          <a:ln w="12700">
            <a:solidFill>
              <a:srgbClr val="EADFD6"/>
            </a:solidFill>
            <a:prstDash val="solid"/>
          </a:ln>
        </p:spPr>
      </p:sp>
      <p:sp>
        <p:nvSpPr>
          <p:cNvPr id="6" name="Per cosa 1"/>
          <p:cNvSpPr txBox="1"/>
          <p:nvPr/>
        </p:nvSpPr>
        <p:spPr>
          <a:xfrm>
            <a:off x="4197096" y="1828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Prodotto, processi, filiera e vincoli operativi dell'azienda</a:t>
            </a:r>
            <a:endParaRPr lang="en-US" sz="1600" dirty="0"/>
          </a:p>
        </p:txBody>
      </p:sp>
      <p:sp>
        <p:nvSpPr>
          <p:cNvPr id="7" name="Chi 2"/>
          <p:cNvSpPr/>
          <p:nvPr/>
        </p:nvSpPr>
        <p:spPr>
          <a:xfrm>
            <a:off x="813816" y="292608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696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MV Consulting</a:t>
            </a:r>
            <a:endParaRPr lang="en-US" sz="1800" dirty="0"/>
          </a:p>
        </p:txBody>
      </p:sp>
      <p:sp>
        <p:nvSpPr>
          <p:cNvPr id="9" name="Freccia 2"/>
          <p:cNvSpPr/>
          <p:nvPr/>
        </p:nvSpPr>
        <p:spPr>
          <a:xfrm>
            <a:off x="3602736" y="3182112"/>
            <a:ext cx="411480" cy="274320"/>
          </a:xfrm>
          <a:prstGeom prst="rightArrow">
            <a:avLst/>
          </a:prstGeom>
          <a:solidFill>
            <a:srgbClr val="EADFD6"/>
          </a:solidFill>
          <a:ln w="12700">
            <a:solidFill>
              <a:srgbClr val="EADFD6"/>
            </a:solidFill>
            <a:prstDash val="solid"/>
          </a:ln>
        </p:spPr>
      </p:sp>
      <p:sp>
        <p:nvSpPr>
          <p:cNvPr id="10" name="Per cosa 2"/>
          <p:cNvSpPr txBox="1"/>
          <p:nvPr/>
        </p:nvSpPr>
        <p:spPr>
          <a:xfrm>
            <a:off x="4197096" y="2926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Normativa, sicurezza alimentare, standard e certificazioni</a:t>
            </a:r>
            <a:endParaRPr lang="en-US" sz="1600" dirty="0"/>
          </a:p>
        </p:txBody>
      </p:sp>
      <p:sp>
        <p:nvSpPr>
          <p:cNvPr id="11" name="Chi 3"/>
          <p:cNvSpPr/>
          <p:nvPr/>
        </p:nvSpPr>
        <p:spPr>
          <a:xfrm>
            <a:off x="813816" y="4023360"/>
            <a:ext cx="26517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" y="4023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Wiseside</a:t>
            </a:r>
            <a:endParaRPr lang="en-US" sz="1800" dirty="0"/>
          </a:p>
        </p:txBody>
      </p:sp>
      <p:sp>
        <p:nvSpPr>
          <p:cNvPr id="13" name="Freccia 3"/>
          <p:cNvSpPr/>
          <p:nvPr/>
        </p:nvSpPr>
        <p:spPr>
          <a:xfrm>
            <a:off x="3602736" y="4279392"/>
            <a:ext cx="411480" cy="274320"/>
          </a:xfrm>
          <a:prstGeom prst="rightArrow">
            <a:avLst/>
          </a:prstGeom>
          <a:solidFill>
            <a:srgbClr val="EADFD6"/>
          </a:solidFill>
          <a:ln w="12700">
            <a:solidFill>
              <a:srgbClr val="EADFD6"/>
            </a:solidFill>
            <a:prstDash val="solid"/>
          </a:ln>
        </p:spPr>
      </p:sp>
      <p:sp>
        <p:nvSpPr>
          <p:cNvPr id="14" name="Per cosa 3"/>
          <p:cNvSpPr txBox="1"/>
          <p:nvPr/>
        </p:nvSpPr>
        <p:spPr>
          <a:xfrm>
            <a:off x="4197096" y="4023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Struttura del dato, interoperabilità e strumenti digitali</a:t>
            </a:r>
            <a:endParaRPr lang="en-US" sz="1600" dirty="0"/>
          </a:p>
        </p:txBody>
      </p:sp>
      <p:pic>
        <p:nvPicPr>
          <p:cNvPr id="15" name="Illustrazione" descr="Una persona con tre fumetti: prodotto, normativa e dat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599" y="1783080"/>
            <a:ext cx="3383280" cy="3383280"/>
          </a:xfrm>
          <a:prstGeom prst="rect">
            <a:avLst/>
          </a:prstGeom>
        </p:spPr>
      </p:pic>
      <p:sp>
        <p:nvSpPr>
          <p:cNvPr id="16" name="Nota"/>
          <p:cNvSpPr/>
          <p:nvPr/>
        </p:nvSpPr>
        <p:spPr>
          <a:xfrm>
            <a:off x="813816" y="5440680"/>
            <a:ext cx="10564063" cy="566928"/>
          </a:xfrm>
          <a:prstGeom prst="roundRect">
            <a:avLst>
              <a:gd name="adj" fmla="val 161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sto nota"/>
          <p:cNvSpPr txBox="1"/>
          <p:nvPr/>
        </p:nvSpPr>
        <p:spPr>
          <a:xfrm>
            <a:off x="1042416" y="5440680"/>
            <a:ext cx="101068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Nelle sessioni condivise potete portare anche dubbi che riguardano tutti i gruppi.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zi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2542032"/>
            <a:ext cx="4572000" cy="43159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3816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accent4"/>
                </a:solidFill>
              </a:rPr>
              <a:t>04</a:t>
            </a:r>
            <a:endParaRPr lang="en-US" sz="2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3816" y="246888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La piattaforma</a:t>
            </a:r>
            <a:endParaRPr lang="en-US" sz="7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Tutto su www.challengeat.it</a:t>
            </a:r>
            <a:endParaRPr lang="en-US" sz="3600" dirty="0"/>
          </a:p>
        </p:txBody>
      </p:sp>
      <p:pic>
        <p:nvPicPr>
          <p:cNvPr id="3" name="Illustrazione" descr="Computer e telefono con la stessa pagina aper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7399" y="1874520"/>
            <a:ext cx="3840480" cy="3840480"/>
          </a:xfrm>
          <a:prstGeom prst="rect">
            <a:avLst/>
          </a:prstGeom>
        </p:spPr>
      </p:pic>
      <p:sp>
        <p:nvSpPr>
          <p:cNvPr id="4" name="Elenco"/>
          <p:cNvSpPr txBox="1"/>
          <p:nvPr/>
        </p:nvSpPr>
        <p:spPr>
          <a:xfrm>
            <a:off x="813816" y="1691640"/>
            <a:ext cx="6266383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Un unico punto di riferimento</a:t>
            </a:r>
            <a:r>
              <a:rPr lang="en-US" sz="2000" dirty="0">
                <a:solidFill>
                  <a:schemeClr val="tx1"/>
                </a:solidFill>
              </a:rPr>
              <a:t> per tutto il percorso: www.challengeat.it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Accessibile da </a:t>
            </a:r>
            <a:r>
              <a:rPr lang="en-US" sz="2000" b="1" dirty="0">
                <a:solidFill>
                  <a:schemeClr val="tx1"/>
                </a:solidFill>
              </a:rPr>
              <a:t>computer e da telefono</a:t>
            </a:r>
            <a:r>
              <a:rPr lang="en-US" sz="2000" dirty="0">
                <a:solidFill>
                  <a:schemeClr val="tx1"/>
                </a:solidFill>
              </a:rPr>
              <a:t>, grazie a Moodle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Anche le </a:t>
            </a:r>
            <a:r>
              <a:rPr lang="en-US" sz="2000" b="1" dirty="0">
                <a:solidFill>
                  <a:schemeClr val="tx1"/>
                </a:solidFill>
              </a:rPr>
              <a:t>sessioni, condivise e private</a:t>
            </a:r>
            <a:r>
              <a:rPr lang="en-US" sz="2000" dirty="0">
                <a:solidFill>
                  <a:schemeClr val="tx1"/>
                </a:solidFill>
              </a:rPr>
              <a:t>, si svolgono tramite la piattaforma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Faremo insieme un </a:t>
            </a:r>
            <a:r>
              <a:rPr lang="en-US" sz="2000" b="1" dirty="0">
                <a:solidFill>
                  <a:schemeClr val="tx1"/>
                </a:solidFill>
              </a:rPr>
              <a:t>tutorial</a:t>
            </a:r>
            <a:r>
              <a:rPr lang="en-US" sz="2000" dirty="0">
                <a:solidFill>
                  <a:schemeClr val="tx1"/>
                </a:solidFill>
              </a:rPr>
              <a:t> per imparare a usarla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3816" y="502920"/>
            <a:ext cx="1056406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 prossimi passi</a:t>
            </a:r>
            <a:endParaRPr lang="en-US" sz="3600" dirty="0"/>
          </a:p>
        </p:txBody>
      </p:sp>
      <p:sp>
        <p:nvSpPr>
          <p:cNvPr id="3" name="Passo 1"/>
          <p:cNvSpPr/>
          <p:nvPr/>
        </p:nvSpPr>
        <p:spPr>
          <a:xfrm>
            <a:off x="813816" y="169164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42416" y="169164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sto passo 1"/>
          <p:cNvSpPr txBox="1"/>
          <p:nvPr/>
        </p:nvSpPr>
        <p:spPr>
          <a:xfrm>
            <a:off x="1728216" y="182880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Accedete</a:t>
            </a:r>
            <a:r>
              <a:rPr lang="en-US" sz="1800" dirty="0">
                <a:solidFill>
                  <a:schemeClr val="tx1"/>
                </a:solidFill>
              </a:rPr>
              <a:t> a www.challengeat.it</a:t>
            </a:r>
            <a:endParaRPr lang="en-US" sz="1800" dirty="0"/>
          </a:p>
        </p:txBody>
      </p:sp>
      <p:sp>
        <p:nvSpPr>
          <p:cNvPr id="6" name="Passo 2"/>
          <p:cNvSpPr/>
          <p:nvPr/>
        </p:nvSpPr>
        <p:spPr>
          <a:xfrm>
            <a:off x="4402226" y="169164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30826" y="169164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8" name="Testo passo 2"/>
          <p:cNvSpPr txBox="1"/>
          <p:nvPr/>
        </p:nvSpPr>
        <p:spPr>
          <a:xfrm>
            <a:off x="5316626" y="182880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Guardate il tutorial</a:t>
            </a:r>
            <a:r>
              <a:rPr lang="en-US" sz="1800" dirty="0">
                <a:solidFill>
                  <a:schemeClr val="tx1"/>
                </a:solidFill>
              </a:rPr>
              <a:t> sulla piattaforma</a:t>
            </a:r>
            <a:endParaRPr lang="en-US" sz="1800" dirty="0"/>
          </a:p>
        </p:txBody>
      </p:sp>
      <p:sp>
        <p:nvSpPr>
          <p:cNvPr id="9" name="Passo 3"/>
          <p:cNvSpPr/>
          <p:nvPr/>
        </p:nvSpPr>
        <p:spPr>
          <a:xfrm>
            <a:off x="7990637" y="169164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19237" y="169164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1" name="Testo passo 3"/>
          <p:cNvSpPr txBox="1"/>
          <p:nvPr/>
        </p:nvSpPr>
        <p:spPr>
          <a:xfrm>
            <a:off x="8905037" y="182880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Scoprite gruppo, orario e mentor</a:t>
            </a:r>
            <a:r>
              <a:rPr lang="en-US" sz="1800" dirty="0">
                <a:solidFill>
                  <a:schemeClr val="tx1"/>
                </a:solidFill>
              </a:rPr>
              <a:t> del vostro venerdì</a:t>
            </a:r>
            <a:endParaRPr lang="en-US" sz="1800" dirty="0"/>
          </a:p>
        </p:txBody>
      </p:sp>
      <p:sp>
        <p:nvSpPr>
          <p:cNvPr id="12" name="Passo 4"/>
          <p:cNvSpPr/>
          <p:nvPr/>
        </p:nvSpPr>
        <p:spPr>
          <a:xfrm>
            <a:off x="813816" y="384048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042416" y="384048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4" name="Testo passo 4"/>
          <p:cNvSpPr txBox="1"/>
          <p:nvPr/>
        </p:nvSpPr>
        <p:spPr>
          <a:xfrm>
            <a:off x="1728216" y="397764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Conoscetevi</a:t>
            </a:r>
            <a:r>
              <a:rPr lang="en-US" sz="1800" dirty="0">
                <a:solidFill>
                  <a:schemeClr val="tx1"/>
                </a:solidFill>
              </a:rPr>
              <a:t>: scegliete come restare in contatto nel gruppo</a:t>
            </a:r>
            <a:endParaRPr lang="en-US" sz="1800" dirty="0"/>
          </a:p>
        </p:txBody>
      </p:sp>
      <p:sp>
        <p:nvSpPr>
          <p:cNvPr id="15" name="Passo 5"/>
          <p:cNvSpPr/>
          <p:nvPr/>
        </p:nvSpPr>
        <p:spPr>
          <a:xfrm>
            <a:off x="4402226" y="384048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30826" y="384048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</a:t>
            </a:r>
            <a:endParaRPr lang="en-US" sz="4000" dirty="0"/>
          </a:p>
        </p:txBody>
      </p:sp>
      <p:sp>
        <p:nvSpPr>
          <p:cNvPr id="17" name="Testo passo 5"/>
          <p:cNvSpPr txBox="1"/>
          <p:nvPr/>
        </p:nvSpPr>
        <p:spPr>
          <a:xfrm>
            <a:off x="5316626" y="397764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Preparate le prime domande</a:t>
            </a:r>
            <a:r>
              <a:rPr lang="en-US" sz="1800" dirty="0">
                <a:solidFill>
                  <a:schemeClr val="tx1"/>
                </a:solidFill>
              </a:rPr>
              <a:t> per la sessione di mentoring</a:t>
            </a:r>
            <a:endParaRPr lang="en-US" sz="1800" dirty="0"/>
          </a:p>
        </p:txBody>
      </p:sp>
      <p:sp>
        <p:nvSpPr>
          <p:cNvPr id="18" name="Passo 6"/>
          <p:cNvSpPr/>
          <p:nvPr/>
        </p:nvSpPr>
        <p:spPr>
          <a:xfrm>
            <a:off x="7990637" y="3840480"/>
            <a:ext cx="338724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DF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19237" y="3840480"/>
            <a:ext cx="640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6</a:t>
            </a:r>
            <a:endParaRPr lang="en-US" sz="4000" dirty="0"/>
          </a:p>
        </p:txBody>
      </p:sp>
      <p:sp>
        <p:nvSpPr>
          <p:cNvPr id="20" name="Testo passo 6"/>
          <p:cNvSpPr txBox="1"/>
          <p:nvPr/>
        </p:nvSpPr>
        <p:spPr>
          <a:xfrm>
            <a:off x="8905037" y="3977640"/>
            <a:ext cx="2244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Partecipate alla prima sessione condivisa</a:t>
            </a:r>
            <a:r>
              <a:rPr lang="en-US" sz="1800" dirty="0">
                <a:solidFill>
                  <a:schemeClr val="tx1"/>
                </a:solidFill>
              </a:rPr>
              <a:t>: [data da confermare]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06279" y="6336792"/>
            <a:ext cx="137160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zi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2542032"/>
            <a:ext cx="4572000" cy="43159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3816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accent4"/>
                </a:solidFill>
              </a:rPr>
              <a:t>05</a:t>
            </a:r>
            <a:endParaRPr lang="en-US" sz="2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3816" y="246888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Il valore del percorso</a:t>
            </a:r>
            <a:endParaRPr lang="en-US" sz="7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zione magenta"/>
          <p:cNvSpPr/>
          <p:nvPr/>
        </p:nvSpPr>
        <p:spPr>
          <a:xfrm>
            <a:off x="9692640" y="-1005840"/>
            <a:ext cx="3566160" cy="3566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ecorazione arancio"/>
          <p:cNvSpPr/>
          <p:nvPr/>
        </p:nvSpPr>
        <p:spPr>
          <a:xfrm>
            <a:off x="9052560" y="17830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PRIMA DI COMINCIARE</a:t>
            </a:r>
            <a:endParaRPr lang="en-US" sz="1400" dirty="0"/>
          </a:p>
        </p:txBody>
      </p:sp>
      <p:sp>
        <p:nvSpPr>
          <p:cNvPr id="5" name="Frase chiave"/>
          <p:cNvSpPr txBox="1"/>
          <p:nvPr/>
        </p:nvSpPr>
        <p:spPr>
          <a:xfrm>
            <a:off x="1005840" y="16916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Il valore del percorso sta nell'</a:t>
            </a:r>
            <a:r>
              <a:rPr lang="en-US" sz="3600" b="1" dirty="0">
                <a:solidFill>
                  <a:schemeClr val="accent2"/>
                </a:solidFill>
              </a:rPr>
              <a:t>esperienza</a:t>
            </a:r>
            <a:r>
              <a:rPr lang="en-US" sz="3600" b="1" dirty="0">
                <a:solidFill>
                  <a:schemeClr val="bg1"/>
                </a:solidFill>
              </a:rPr>
              <a:t> e nell'</a:t>
            </a:r>
            <a:r>
              <a:rPr lang="en-US" sz="3600" b="1" dirty="0">
                <a:solidFill>
                  <a:schemeClr val="accent2"/>
                </a:solidFill>
              </a:rPr>
              <a:t>impegno</a:t>
            </a:r>
            <a:r>
              <a:rPr lang="en-US" sz="3600" b="1" dirty="0">
                <a:solidFill>
                  <a:schemeClr val="bg1"/>
                </a:solidFill>
              </a:rPr>
              <a:t> che ci metterete.</a:t>
            </a:r>
            <a:endParaRPr lang="en-US" sz="3600" dirty="0"/>
          </a:p>
        </p:txBody>
      </p:sp>
      <p:sp>
        <p:nvSpPr>
          <p:cNvPr id="6" name="Elenco"/>
          <p:cNvSpPr txBox="1"/>
          <p:nvPr/>
        </p:nvSpPr>
        <p:spPr>
          <a:xfrm>
            <a:off x="1005840" y="384048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BDCD3"/>
                </a:solidFill>
              </a:rPr>
              <a:t>Non ci sono risposte già pronte: contano il metodo, il confronto e le scelte fatte insieme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BDCD3"/>
                </a:solidFill>
              </a:rPr>
              <a:t>Provare, sbagliare e correggere fa parte del lavoro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BDCD3"/>
                </a:solidFill>
              </a:rPr>
              <a:t>Porterete a casa competenze, relazioni e un'esperienza vera, a contatto con aziende reali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BDCD3"/>
                </a:solidFill>
              </a:rPr>
              <a:t>Più ci mettete, più il percorso restituisce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Food 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348" y="141732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3816" y="2880360"/>
            <a:ext cx="105640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Buon lavoro, team!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13816" y="4114800"/>
            <a:ext cx="10564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Ci vediamo in sessione condivisa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470916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ChallengEat 8 · Food Hub · Edizione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llengEat 8">
  <a:themeElements>
    <a:clrScheme name="ChallengEat 8">
      <a:dk1>
        <a:srgbClr val="2A1E22"/>
      </a:dk1>
      <a:lt1>
        <a:srgbClr val="FFFFFF"/>
      </a:lt1>
      <a:dk2>
        <a:srgbClr val="4A3F42"/>
      </a:dk2>
      <a:lt2>
        <a:srgbClr val="FBF6F1"/>
      </a:lt2>
      <a:accent1>
        <a:srgbClr val="D3134A"/>
      </a:accent1>
      <a:accent2>
        <a:srgbClr val="F4A269"/>
      </a:accent2>
      <a:accent3>
        <a:srgbClr val="48B17A"/>
      </a:accent3>
      <a:accent4>
        <a:srgbClr val="FCE8DA"/>
      </a:accent4>
      <a:accent5>
        <a:srgbClr val="A80F3B"/>
      </a:accent5>
      <a:accent6>
        <a:srgbClr val="2E7D53"/>
      </a:accent6>
      <a:hlink>
        <a:srgbClr val="D3134A"/>
      </a:hlink>
      <a:folHlink>
        <a:srgbClr val="A80F3B"/>
      </a:folHlink>
    </a:clrScheme>
    <a:fontScheme name="ChallengEat 8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Food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ChallengEat 8 · Benvenuto</dc:title>
  <dc:subject>PptxGenJS Presentation</dc:subject>
  <dc:creator>Food Hub</dc:creator>
  <cp:lastModifiedBy>Food Hub</cp:lastModifiedBy>
  <cp:revision>1</cp:revision>
  <dcterms:created xsi:type="dcterms:W3CDTF">2026-10-12T11:10:08Z</dcterms:created>
  <dcterms:modified xsi:type="dcterms:W3CDTF">2026-10-12T11:10:08Z</dcterms:modified>
</cp:coreProperties>
</file>